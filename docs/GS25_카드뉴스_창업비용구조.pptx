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05840"/>
            <a:ext cx="3108960" cy="438912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F"/>
                </a:solidFill>
              </a:rPr>
              <a:t>공정위 정보공개서 기반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0FF"/>
                </a:solidFill>
              </a:rPr>
              <a:t>GS25 편의점 창업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3A5E"/>
                </a:solidFill>
              </a:rPr>
              <a:t>진짜 비용구조 공개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3200400" cy="36576"/>
          </a:xfrm>
          <a:prstGeom prst="rect">
            <a:avLst/>
          </a:prstGeom>
          <a:solidFill>
            <a:srgbClr val="2525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78A8"/>
                </a:solidFill>
              </a:rPr>
              <a:t>최소 초기투자금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5A623"/>
                </a:solidFill>
              </a:rPr>
              <a:t>7,283만원+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878A8"/>
                </a:solidFill>
              </a:rPr>
              <a:t>그들이 쉽게 설명하지 않는 것들을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878A8"/>
                </a:solidFill>
              </a:rPr>
              <a:t>로키가 공정위 문서로 직접 확인했습니다.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8613648"/>
            <a:ext cx="9144000" cy="530352"/>
          </a:xfrm>
          <a:prstGeom prst="rect">
            <a:avLst/>
          </a:prstGeom>
          <a:solidFill>
            <a:srgbClr val="0C0C2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861364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로키-창업구조대  |  @loki-biz119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3A5E"/>
                </a:solidFill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한눈에 보는 비용 구조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A8"/>
                </a:solidFill>
              </a:rPr>
              <a:t>GS2·GS3 타입 (위탁가맹) 기준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196596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91440" cy="1965960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09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A8"/>
                </a:solidFill>
              </a:rPr>
              <a:t>① 초기투자금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3A5E"/>
                </a:solidFill>
              </a:rPr>
              <a:t>7,283만원+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A8"/>
                </a:solidFill>
              </a:rPr>
              <a:t>비환급 733만원 + 환급 6,550만원+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8412480" cy="196596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657600"/>
            <a:ext cx="91440" cy="1965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58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A8"/>
                </a:solidFill>
              </a:rPr>
              <a:t>② 운영 고정비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206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최대 49만원/월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5800" y="50749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A8"/>
                </a:solidFill>
              </a:rPr>
              <a:t>필수 17만원 + 선택 최대 32만원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5806440"/>
            <a:ext cx="8412480" cy="196596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5806440"/>
            <a:ext cx="91440" cy="1965960"/>
          </a:xfrm>
          <a:prstGeom prst="rect">
            <a:avLst/>
          </a:prstGeom>
          <a:solidFill>
            <a:srgbClr val="7878A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6007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A8"/>
                </a:solidFill>
              </a:rPr>
              <a:t>③ 계약해지 위약금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6355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878A8"/>
                </a:solidFill>
              </a:rPr>
              <a:t>약 4,556만원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5800" y="7223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A8"/>
                </a:solidFill>
              </a:rPr>
              <a:t>3년 내 해지 시 (서울 평균 기준)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83393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8A8"/>
                </a:solidFill>
              </a:rPr>
              <a:t>출처: GS25 공정위 가맹사업 정보공개서 (2024)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8613648"/>
            <a:ext cx="9144000" cy="530352"/>
          </a:xfrm>
          <a:prstGeom prst="rect">
            <a:avLst/>
          </a:prstGeom>
          <a:solidFill>
            <a:srgbClr val="0C0C2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861364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로키-창업구조대  |  @loki-biz119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3A5E"/>
                </a:solidFill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절대 못 돌려받는 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A8"/>
                </a:solidFill>
              </a:rPr>
              <a:t>계약 체결 순간 소멸 — 해지해도 반환 없음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2560320"/>
          </a:xfrm>
          <a:prstGeom prst="rect">
            <a:avLst/>
          </a:prstGeom>
          <a:solidFill>
            <a:srgbClr val="3D0F1E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91440" cy="2560320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190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78A8"/>
                </a:solidFill>
              </a:rPr>
              <a:t>가맹비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08483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3A5E"/>
                </a:solidFill>
              </a:rPr>
              <a:t>700만원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A8"/>
                </a:solidFill>
              </a:rPr>
              <a:t>개점 지원 대가로 소멸 — 폐점·해지 시 절대 미반환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251960"/>
            <a:ext cx="8412480" cy="182880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4251960"/>
            <a:ext cx="91440" cy="1828800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462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A8"/>
                </a:solidFill>
              </a:rPr>
              <a:t>인허가비 (담배·식품·의료기기 등)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828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3A5E"/>
                </a:solidFill>
              </a:rPr>
              <a:t>약 33만원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85800" y="5577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개점 전 1회 납부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6263640"/>
            <a:ext cx="8412480" cy="658368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62636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0FF"/>
                </a:solidFill>
              </a:rPr>
              <a:t>비환급 합계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약 733만원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83393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8A8"/>
                </a:solidFill>
              </a:rPr>
              <a:t>출처: GS25 공정위 가맹사업 정보공개서 (2024)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8613648"/>
            <a:ext cx="9144000" cy="530352"/>
          </a:xfrm>
          <a:prstGeom prst="rect">
            <a:avLst/>
          </a:prstGeom>
          <a:solidFill>
            <a:srgbClr val="0C0C2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861364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로키-창업구조대  |  @loki-biz119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BF6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3A5E"/>
                </a:solidFill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계약 기간 동안 묶이는 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A8"/>
                </a:solidFill>
              </a:rPr>
              <a:t>만료 시 반환 — 그때까지 내 돈이 아님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132588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91440" cy="1325880"/>
          </a:xfrm>
          <a:prstGeom prst="rect">
            <a:avLst/>
          </a:prstGeom>
          <a:solidFill>
            <a:srgbClr val="29BF6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8A8"/>
                </a:solidFill>
              </a:rPr>
              <a:t>전대/예치 보증금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BF6A"/>
                </a:solidFill>
              </a:rPr>
              <a:t>3,000만원+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85800" y="24871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8"/>
                </a:solidFill>
              </a:rPr>
              <a:t>GS2·GS3 기준 최솟값 (임차 규모에 따라 증가)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8412480" cy="132588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71800"/>
            <a:ext cx="91440" cy="1325880"/>
          </a:xfrm>
          <a:prstGeom prst="rect">
            <a:avLst/>
          </a:prstGeom>
          <a:solidFill>
            <a:srgbClr val="29BF6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8A8"/>
                </a:solidFill>
              </a:rPr>
              <a:t>상품·소모품 준비금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BF6A"/>
                </a:solidFill>
              </a:rPr>
              <a:t>1,500만원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" y="39502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8"/>
                </a:solidFill>
              </a:rPr>
              <a:t>개점 시 상품·소모품 선투자 (이후 정산)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434840"/>
            <a:ext cx="8412480" cy="132588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434840"/>
            <a:ext cx="91440" cy="1325880"/>
          </a:xfrm>
          <a:prstGeom prst="rect">
            <a:avLst/>
          </a:prstGeom>
          <a:solidFill>
            <a:srgbClr val="29BF6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526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8A8"/>
                </a:solidFill>
              </a:rPr>
              <a:t>담보 제공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846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BF6A"/>
                </a:solidFill>
              </a:rPr>
              <a:t>2,000만원+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5800" y="54132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8"/>
                </a:solidFill>
              </a:rPr>
              <a:t>GS2·GS3 기준 (부동산 등 담보 제공)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897880"/>
            <a:ext cx="8412480" cy="132588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5897880"/>
            <a:ext cx="91440" cy="1325880"/>
          </a:xfrm>
          <a:prstGeom prst="rect">
            <a:avLst/>
          </a:prstGeom>
          <a:solidFill>
            <a:srgbClr val="29BF6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989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8A8"/>
                </a:solidFill>
              </a:rPr>
              <a:t>환전 자금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6309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BF6A"/>
                </a:solidFill>
              </a:rPr>
              <a:t>50만원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" y="68762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8"/>
                </a:solidFill>
              </a:rPr>
              <a:t>개점 시 잔돈 준비 (자산으로 잡힘)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7543800"/>
            <a:ext cx="8412480" cy="64008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7543800"/>
            <a:ext cx="91440" cy="640080"/>
          </a:xfrm>
          <a:prstGeom prst="rect">
            <a:avLst/>
          </a:prstGeom>
          <a:solidFill>
            <a:srgbClr val="29BF6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7543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78A8"/>
                </a:solidFill>
              </a:rPr>
              <a:t>환급 합계  </a:t>
            </a:r>
            <a:pPr indent="0" marL="0">
              <a:buNone/>
            </a:pPr>
            <a:r>
              <a:rPr lang="en-US" sz="2200" b="1" dirty="0">
                <a:solidFill>
                  <a:srgbClr val="29BF6A"/>
                </a:solidFill>
              </a:rPr>
              <a:t>최소 6,550만원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5760" y="83393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8A8"/>
                </a:solidFill>
              </a:rPr>
              <a:t>출처: GS25 공정위 가맹사업 정보공개서 (2024)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8613648"/>
            <a:ext cx="9144000" cy="530352"/>
          </a:xfrm>
          <a:prstGeom prst="rect">
            <a:avLst/>
          </a:prstGeom>
          <a:solidFill>
            <a:srgbClr val="0C0C2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861364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로키-창업구조대  |  @loki-biz119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3A5E"/>
                </a:solidFill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매달 나가는 고정비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A8"/>
                </a:solidFill>
              </a:rPr>
              <a:t>본부에 납부하는 운영 고정비용 (VAT 포함)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310896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91440" cy="3108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A8"/>
                </a:solidFill>
              </a:rPr>
              <a:t>필수 고정비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</a:rPr>
              <a:t>BGM 서비스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21031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4,250원/월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5968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</a:rPr>
              <a:t>전산유지보수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5968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71,500원/월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09067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</a:rPr>
              <a:t>장비유지관리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30906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77,000원/월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58444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F"/>
                </a:solidFill>
              </a:rPr>
              <a:t>간판유지보수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5844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19,800원/월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114800"/>
            <a:ext cx="7909560" cy="27432"/>
          </a:xfrm>
          <a:prstGeom prst="rect">
            <a:avLst/>
          </a:prstGeom>
          <a:solidFill>
            <a:srgbClr val="25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605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필수 고정비 합계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4160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약 17만원/월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800600"/>
            <a:ext cx="8412480" cy="274320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800600"/>
            <a:ext cx="91440" cy="2743200"/>
          </a:xfrm>
          <a:prstGeom prst="rect">
            <a:avLst/>
          </a:prstGeom>
          <a:solidFill>
            <a:srgbClr val="7878A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A8"/>
                </a:solidFill>
              </a:rPr>
              <a:t>선택 고정비 (추가 선택 시)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3949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F"/>
                </a:solidFill>
              </a:rPr>
              <a:t>세무대리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53949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66,000원/월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8521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F"/>
                </a:solidFill>
              </a:rPr>
              <a:t>노무대리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58521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22,000~55,000원/월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63093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F"/>
                </a:solidFill>
              </a:rPr>
              <a:t>방역·방범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63093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32,000~199,000원/월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67665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F"/>
                </a:solidFill>
              </a:rPr>
              <a:t>담배조합비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0" y="67665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담배매입액의 0.09%/월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7223760"/>
            <a:ext cx="7909560" cy="27432"/>
          </a:xfrm>
          <a:prstGeom prst="rect">
            <a:avLst/>
          </a:prstGeom>
          <a:solidFill>
            <a:srgbClr val="252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7269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A8"/>
                </a:solidFill>
              </a:rPr>
              <a:t>선택 고정비 합계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72694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878A8"/>
                </a:solidFill>
              </a:rPr>
              <a:t>12만~32만원/월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7818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3A5E"/>
                </a:solidFill>
              </a:rPr>
              <a:t>※ 임대료·인건비·전기료는 별도 (점주 직접 부담)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83393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8A8"/>
                </a:solidFill>
              </a:rPr>
              <a:t>출처: GS25 공정위 가맹사업 정보공개서 (2024)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8613648"/>
            <a:ext cx="9144000" cy="530352"/>
          </a:xfrm>
          <a:prstGeom prst="rect">
            <a:avLst/>
          </a:prstGeom>
          <a:solidFill>
            <a:srgbClr val="0C0C2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861364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로키-창업구조대  |  @loki-biz119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3A5E"/>
                </a:solidFill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</a:rPr>
              <a:t>3년 안에 그만두면?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A8"/>
                </a:solidFill>
              </a:rPr>
              <a:t>계약해지 위약금 실제 계산 — 서울 평균 기준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2377440"/>
          </a:xfrm>
          <a:prstGeom prst="rect">
            <a:avLst/>
          </a:prstGeom>
          <a:solidFill>
            <a:srgbClr val="3D0F1E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91440" cy="2377440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190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A8"/>
                </a:solidFill>
              </a:rPr>
              <a:t>GS2·GS3  |  3년 내 해지 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84832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3A5E"/>
                </a:solidFill>
              </a:rPr>
              <a:t>약 4,556만원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월매출총이익 1,627만원 × 35% × 8개월 = 4,556만원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069080"/>
            <a:ext cx="8412480" cy="292608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4069080"/>
            <a:ext cx="91440" cy="2926080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A8"/>
                </a:solidFill>
              </a:rPr>
              <a:t>계산 근거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70916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A8"/>
                </a:solidFill>
              </a:rPr>
              <a:t>서울 평균 월매출 (정보공개서)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7091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6,260만원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534924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A8"/>
                </a:solidFill>
              </a:rPr>
              <a:t>× 매출총이익률 26%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53492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= 1,627만원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98932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</a:rPr>
              <a:t>× 35% × 8개월 (3년 내 해지)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5989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3A5E"/>
                </a:solidFill>
              </a:rPr>
              <a:t>= 4,556만원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7178040"/>
            <a:ext cx="8412480" cy="91440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7178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878A8"/>
                </a:solidFill>
              </a:rPr>
              <a:t>3~4년 해지: 6개월분 (약 3,417만원)  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878A8"/>
                </a:solidFill>
              </a:rPr>
              <a:t>4~5년 해지: 2개월분 (약 1,139만원)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83393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8A8"/>
                </a:solidFill>
              </a:rPr>
              <a:t>출처: GS25 공정위 가맹사업 정보공개서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8613648"/>
            <a:ext cx="9144000" cy="530352"/>
          </a:xfrm>
          <a:prstGeom prst="rect">
            <a:avLst/>
          </a:prstGeom>
          <a:solidFill>
            <a:srgbClr val="0C0C2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861364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로키-창업구조대  |  @loki-biz119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spc="1800" kern="0" dirty="0">
                <a:solidFill>
                  <a:srgbClr val="E83A5E"/>
                </a:solidFill>
              </a:rPr>
              <a:t>LOKI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0" y="35204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1000" kern="0" dirty="0">
                <a:solidFill>
                  <a:srgbClr val="F0F0FF"/>
                </a:solidFill>
              </a:rPr>
              <a:t>창업구조대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0" y="4480560"/>
            <a:ext cx="4023360" cy="45720"/>
          </a:xfrm>
          <a:prstGeom prst="rect">
            <a:avLst/>
          </a:prstGeom>
          <a:solidFill>
            <a:srgbClr val="252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091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200" dirty="0">
                <a:solidFill>
                  <a:srgbClr val="7878A8"/>
                </a:solidFill>
              </a:rPr>
              <a:t>창업당하지 마세요.</a:t>
            </a:r>
            <a:endParaRPr lang="en-US" sz="2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200" dirty="0">
                <a:solidFill>
                  <a:srgbClr val="7878A8"/>
                </a:solidFill>
              </a:rPr>
              <a:t>스스로 창업하세요.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6537960"/>
            <a:ext cx="5852160" cy="685800"/>
          </a:xfrm>
          <a:prstGeom prst="rect">
            <a:avLst/>
          </a:prstGeom>
          <a:solidFill>
            <a:srgbClr val="1A1A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0" y="6537960"/>
            <a:ext cx="91440" cy="685800"/>
          </a:xfrm>
          <a:prstGeom prst="rect">
            <a:avLst/>
          </a:prstGeom>
          <a:solidFill>
            <a:srgbClr val="E83A5E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653796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0FF"/>
                </a:solidFill>
              </a:rPr>
              <a:t>@loki-biz119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0" y="74980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공정위 가맹사업 정보공개서 기반 데이터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8613648"/>
            <a:ext cx="9144000" cy="530352"/>
          </a:xfrm>
          <a:prstGeom prst="rect">
            <a:avLst/>
          </a:prstGeom>
          <a:solidFill>
            <a:srgbClr val="0C0C2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861364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8A8"/>
                </a:solidFill>
              </a:rPr>
              <a:t>로키-창업구조대  |  @loki-biz119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GS25 편의점 창업 비용구조 공개 | 로키-창업구조대</dc:title>
  <dc:subject>PptxGenJS Presentation</dc:subject>
  <dc:creator>PptxGenJS</dc:creator>
  <cp:lastModifiedBy>PptxGenJS</cp:lastModifiedBy>
  <cp:revision>1</cp:revision>
  <dcterms:created xsi:type="dcterms:W3CDTF">2026-04-19T07:41:51Z</dcterms:created>
  <dcterms:modified xsi:type="dcterms:W3CDTF">2026-04-19T07:41:51Z</dcterms:modified>
</cp:coreProperties>
</file>